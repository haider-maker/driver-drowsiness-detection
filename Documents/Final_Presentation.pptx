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5"/>
  </p:sldMasterIdLst>
  <p:notesMasterIdLst>
    <p:notesMasterId r:id="rId13"/>
  </p:notesMasterIdLst>
  <p:sldIdLst>
    <p:sldId id="270" r:id="rId6"/>
    <p:sldId id="272" r:id="rId7"/>
    <p:sldId id="271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85369"/>
  </p:normalViewPr>
  <p:slideViewPr>
    <p:cSldViewPr snapToGrid="0" showGuides="1">
      <p:cViewPr varScale="1">
        <p:scale>
          <a:sx n="128" d="100"/>
          <a:sy n="128" d="100"/>
        </p:scale>
        <p:origin x="328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23.07.25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7"/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040"/>
          <a:stretch/>
        </p:blipFill>
        <p:spPr>
          <a:xfrm>
            <a:off x="0" y="0"/>
            <a:ext cx="362139" cy="6858000"/>
          </a:xfrm>
          <a:prstGeom prst="rect">
            <a:avLst/>
          </a:prstGeom>
        </p:spPr>
      </p:pic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/>
              <a:t> Technische Hochschule Ingolstadt   |   Fußzeile auf Masterfolie eingeben</a:t>
            </a:r>
          </a:p>
          <a:p>
            <a:endParaRPr lang="de-DE" sz="800"/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hdr="0" dt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649288" y="1568946"/>
            <a:ext cx="11063816" cy="1688254"/>
          </a:xfrm>
        </p:spPr>
        <p:txBody>
          <a:bodyPr/>
          <a:lstStyle/>
          <a:p>
            <a:r>
              <a:rPr lang="en-IN" dirty="0"/>
              <a:t>Node Name: </a:t>
            </a:r>
            <a:r>
              <a:rPr lang="en-IN" dirty="0" err="1"/>
              <a:t>online_feature_node</a:t>
            </a:r>
            <a:endParaRPr lang="en-IN" dirty="0"/>
          </a:p>
          <a:p>
            <a:r>
              <a:rPr lang="en-IN" dirty="0"/>
              <a:t>Subscribes to: /</a:t>
            </a:r>
            <a:r>
              <a:rPr lang="en-IN" dirty="0" err="1"/>
              <a:t>data_capture</a:t>
            </a:r>
            <a:r>
              <a:rPr lang="en-IN" dirty="0"/>
              <a:t>/data (</a:t>
            </a:r>
            <a:r>
              <a:rPr lang="en-IN" dirty="0" err="1"/>
              <a:t>std_msgs</a:t>
            </a:r>
            <a:r>
              <a:rPr lang="en-IN" dirty="0"/>
              <a:t>/String)</a:t>
            </a:r>
          </a:p>
          <a:p>
            <a:r>
              <a:rPr lang="en-IN" dirty="0"/>
              <a:t>Publishes to: /</a:t>
            </a:r>
            <a:r>
              <a:rPr lang="en-IN" dirty="0" err="1"/>
              <a:t>features_carla</a:t>
            </a:r>
            <a:r>
              <a:rPr lang="en-IN" dirty="0"/>
              <a:t> (Float32MultiArray)</a:t>
            </a:r>
          </a:p>
          <a:p>
            <a:r>
              <a:rPr lang="en-IN" dirty="0"/>
              <a:t>60s sliding window, recomputed every 20s.</a:t>
            </a:r>
          </a:p>
          <a:p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Feature </a:t>
            </a:r>
            <a:r>
              <a:rPr lang="de-DE" dirty="0" err="1"/>
              <a:t>Extraction</a:t>
            </a:r>
            <a:r>
              <a:rPr lang="de-DE" dirty="0"/>
              <a:t> - Vehicle Data(CARLA)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Node Architecture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561E3-CE44-F902-9F39-C1EEE751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6" y="3257200"/>
            <a:ext cx="6682305" cy="2746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895FFF-49B2-0C58-88CC-E7F79171641F}"/>
              </a:ext>
            </a:extLst>
          </p:cNvPr>
          <p:cNvSpPr txBox="1"/>
          <p:nvPr/>
        </p:nvSpPr>
        <p:spPr>
          <a:xfrm>
            <a:off x="1093304" y="6032174"/>
            <a:ext cx="6618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 :- Input csv data for offline feature extraction for 1 person.</a:t>
            </a:r>
          </a:p>
        </p:txBody>
      </p:sp>
    </p:spTree>
    <p:extLst>
      <p:ext uri="{BB962C8B-B14F-4D97-AF65-F5344CB8AC3E}">
        <p14:creationId xmlns:p14="http://schemas.microsoft.com/office/powerpoint/2010/main" val="56469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F7478-D12E-6AA8-8360-253ACC971B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9288" y="1329046"/>
            <a:ext cx="4983470" cy="2745998"/>
          </a:xfrm>
        </p:spPr>
        <p:txBody>
          <a:bodyPr/>
          <a:lstStyle/>
          <a:p>
            <a:pPr indent="0">
              <a:buNone/>
            </a:pPr>
            <a:r>
              <a:rPr lang="en-IN" dirty="0"/>
              <a:t>1. Steering Entropy</a:t>
            </a:r>
          </a:p>
          <a:p>
            <a:pPr indent="0">
              <a:buNone/>
            </a:pPr>
            <a:r>
              <a:rPr lang="en-IN" dirty="0"/>
              <a:t>2. Steering Reversal Rate (SRR)</a:t>
            </a:r>
          </a:p>
          <a:p>
            <a:pPr indent="0">
              <a:buNone/>
            </a:pPr>
            <a:r>
              <a:rPr lang="en-IN" dirty="0"/>
              <a:t>3. Std. Dev. of Steering</a:t>
            </a:r>
          </a:p>
          <a:p>
            <a:pPr indent="0">
              <a:buNone/>
            </a:pPr>
            <a:r>
              <a:rPr lang="en-IN" dirty="0"/>
              <a:t>4. Std. Dev. of Lateral Offset</a:t>
            </a:r>
          </a:p>
          <a:p>
            <a:pPr indent="0">
              <a:buNone/>
            </a:pPr>
            <a:r>
              <a:rPr lang="en-IN" dirty="0"/>
              <a:t>5. Lane Departure Frequency</a:t>
            </a:r>
          </a:p>
          <a:p>
            <a:pPr indent="0">
              <a:buNone/>
            </a:pPr>
            <a:r>
              <a:rPr lang="en-IN" dirty="0"/>
              <a:t>6. Lane Keeping Ratio</a:t>
            </a:r>
          </a:p>
          <a:p>
            <a:pPr indent="0">
              <a:buNone/>
            </a:pPr>
            <a:r>
              <a:rPr lang="en-IN" dirty="0"/>
              <a:t>7. Lane Change Count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AAAC91-DEAA-7738-ADEA-1DA56DDA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6A19E7E-68FF-5B62-C69A-A8F3D9163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Extracted Features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8505-086D-02FE-9928-22D7F66CFB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pic>
        <p:nvPicPr>
          <p:cNvPr id="7" name="Picture 6" descr="A table with text on it&#10;&#10;AI-generated content may be incorrect.">
            <a:extLst>
              <a:ext uri="{FF2B5EF4-FFF2-40B4-BE49-F238E27FC236}">
                <a16:creationId xmlns:a16="http://schemas.microsoft.com/office/drawing/2014/main" id="{0648F502-32F5-01C8-E5B8-ABFE5835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48" y="916094"/>
            <a:ext cx="6630052" cy="45043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49B1CD-23DC-C898-80C3-E66721414964}"/>
              </a:ext>
            </a:extLst>
          </p:cNvPr>
          <p:cNvSpPr txBox="1"/>
          <p:nvPr/>
        </p:nvSpPr>
        <p:spPr>
          <a:xfrm>
            <a:off x="6003234" y="917788"/>
            <a:ext cx="99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Table 1:</a:t>
            </a:r>
          </a:p>
        </p:txBody>
      </p:sp>
    </p:spTree>
    <p:extLst>
      <p:ext uri="{BB962C8B-B14F-4D97-AF65-F5344CB8AC3E}">
        <p14:creationId xmlns:p14="http://schemas.microsoft.com/office/powerpoint/2010/main" val="85613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DDF9A-E346-5F05-7307-FFF9769367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9288" y="1160080"/>
            <a:ext cx="11063816" cy="1980685"/>
          </a:xfrm>
        </p:spPr>
        <p:txBody>
          <a:bodyPr/>
          <a:lstStyle/>
          <a:p>
            <a:r>
              <a:rPr lang="en-IN" dirty="0"/>
              <a:t>Maintains last 60 seconds of driving data.</a:t>
            </a:r>
          </a:p>
          <a:p>
            <a:r>
              <a:rPr lang="en-IN" dirty="0"/>
              <a:t>Every 20 seconds:</a:t>
            </a:r>
          </a:p>
          <a:p>
            <a:pPr indent="0">
              <a:buNone/>
            </a:pPr>
            <a:r>
              <a:rPr lang="en-IN" dirty="0"/>
              <a:t>	– Cleans old data</a:t>
            </a:r>
          </a:p>
          <a:p>
            <a:pPr indent="0">
              <a:buNone/>
            </a:pPr>
            <a:r>
              <a:rPr lang="en-IN" dirty="0"/>
              <a:t>	– Computes new features</a:t>
            </a:r>
          </a:p>
          <a:p>
            <a:pPr indent="0">
              <a:buNone/>
            </a:pPr>
            <a:r>
              <a:rPr lang="en-IN" dirty="0"/>
              <a:t>	– Publishes output for downstream modules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F51163-0DB8-064B-627A-1FD04C36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581267"/>
            <a:ext cx="9753600" cy="327600"/>
          </a:xfrm>
        </p:spPr>
        <p:txBody>
          <a:bodyPr>
            <a:normAutofit fontScale="90000"/>
          </a:bodyPr>
          <a:lstStyle/>
          <a:p>
            <a:r>
              <a:rPr lang="en-IN" dirty="0"/>
              <a:t>Sliding Window Mechanism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4590E-8B70-4A9B-B5DD-B5EE577C8C5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70B3A-56E4-78FF-153D-E02FBA684801}"/>
              </a:ext>
            </a:extLst>
          </p:cNvPr>
          <p:cNvSpPr txBox="1"/>
          <p:nvPr/>
        </p:nvSpPr>
        <p:spPr>
          <a:xfrm>
            <a:off x="6301409" y="5578650"/>
            <a:ext cx="478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Video 1 :- Visualization of how the waypoints and vehicle position is calculated </a:t>
            </a:r>
          </a:p>
        </p:txBody>
      </p:sp>
      <p:pic>
        <p:nvPicPr>
          <p:cNvPr id="12" name="WhatsApp Video 2025-07-08 at 21.40.14">
            <a:hlinkClick r:id="" action="ppaction://media"/>
            <a:extLst>
              <a:ext uri="{FF2B5EF4-FFF2-40B4-BE49-F238E27FC236}">
                <a16:creationId xmlns:a16="http://schemas.microsoft.com/office/drawing/2014/main" id="{39FD5C5D-38C6-6F13-77FA-5C56877782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78635" y="2019030"/>
            <a:ext cx="6038065" cy="339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6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0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55137-21A4-568E-EF24-3C3987A055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1329045"/>
            <a:ext cx="7089038" cy="1652694"/>
          </a:xfrm>
        </p:spPr>
        <p:txBody>
          <a:bodyPr/>
          <a:lstStyle/>
          <a:p>
            <a:pPr indent="0">
              <a:buNone/>
            </a:pPr>
            <a:r>
              <a:rPr lang="en-IN" dirty="0"/>
              <a:t>• Early Warning: Offset ≥ 90% of lane half-width (±1.575 m)</a:t>
            </a:r>
          </a:p>
          <a:p>
            <a:pPr indent="0">
              <a:buNone/>
            </a:pPr>
            <a:r>
              <a:rPr lang="en-IN" dirty="0"/>
              <a:t>• True Departure: Offset ≥ full lane half-width (±1.75 m)</a:t>
            </a:r>
          </a:p>
          <a:p>
            <a:pPr indent="0">
              <a:buNone/>
            </a:pPr>
            <a:r>
              <a:rPr lang="en-IN" dirty="0"/>
              <a:t>• Enhances lane change and drowsiness detection accuracy</a:t>
            </a:r>
          </a:p>
          <a:p>
            <a:pPr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65A06A-7A17-8523-EB63-4886811B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BBB6CB-6280-56A6-5D79-8B2628A24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Lane Deviation Logic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6383-C8BF-8DAC-355E-9715D334B8F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  <p:pic>
        <p:nvPicPr>
          <p:cNvPr id="8" name="Picture 7" descr="A graph showing the weather&#10;&#10;AI-generated content may be incorrect.">
            <a:extLst>
              <a:ext uri="{FF2B5EF4-FFF2-40B4-BE49-F238E27FC236}">
                <a16:creationId xmlns:a16="http://schemas.microsoft.com/office/drawing/2014/main" id="{EEE51463-D808-34A9-7BEC-D5F57E581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450" y="2981739"/>
            <a:ext cx="7531100" cy="2510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664382-8C4C-37A0-7050-B4CE1342E3B4}"/>
              </a:ext>
            </a:extLst>
          </p:cNvPr>
          <p:cNvSpPr txBox="1"/>
          <p:nvPr/>
        </p:nvSpPr>
        <p:spPr>
          <a:xfrm>
            <a:off x="2538402" y="5492106"/>
            <a:ext cx="546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 :- Lateral offset data of 1 test person for kss_5</a:t>
            </a:r>
          </a:p>
        </p:txBody>
      </p:sp>
    </p:spTree>
    <p:extLst>
      <p:ext uri="{BB962C8B-B14F-4D97-AF65-F5344CB8AC3E}">
        <p14:creationId xmlns:p14="http://schemas.microsoft.com/office/powerpoint/2010/main" val="201969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AF48A-55F2-A54D-8D24-4AA77ABFF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9288" y="1665000"/>
            <a:ext cx="11063816" cy="3528000"/>
          </a:xfrm>
        </p:spPr>
        <p:txBody>
          <a:bodyPr/>
          <a:lstStyle/>
          <a:p>
            <a:pPr indent="0">
              <a:buNone/>
            </a:pPr>
            <a:r>
              <a:rPr lang="en-IN" dirty="0"/>
              <a:t>• Output Type: Float32MultiArray</a:t>
            </a:r>
          </a:p>
          <a:p>
            <a:pPr indent="0">
              <a:buNone/>
            </a:pPr>
            <a:r>
              <a:rPr lang="en-IN" dirty="0"/>
              <a:t>• Published every 20 seconds</a:t>
            </a:r>
          </a:p>
          <a:p>
            <a:pPr indent="0">
              <a:buNone/>
            </a:pPr>
            <a:r>
              <a:rPr lang="en-IN" dirty="0"/>
              <a:t>• Order:</a:t>
            </a:r>
          </a:p>
          <a:p>
            <a:pPr lvl="1" indent="0">
              <a:buNone/>
            </a:pPr>
            <a:r>
              <a:rPr lang="en-IN" dirty="0"/>
              <a:t>1. Steering Entropy</a:t>
            </a:r>
          </a:p>
          <a:p>
            <a:pPr lvl="1" indent="0">
              <a:buNone/>
            </a:pPr>
            <a:r>
              <a:rPr lang="en-IN" dirty="0"/>
              <a:t>2. SRR</a:t>
            </a:r>
          </a:p>
          <a:p>
            <a:pPr lvl="1" indent="0">
              <a:buNone/>
            </a:pPr>
            <a:r>
              <a:rPr lang="en-IN" dirty="0"/>
              <a:t>3. Std(Steering)</a:t>
            </a:r>
          </a:p>
          <a:p>
            <a:pPr lvl="1" indent="0">
              <a:buNone/>
            </a:pPr>
            <a:r>
              <a:rPr lang="en-IN" dirty="0"/>
              <a:t>4. Std(Offset)</a:t>
            </a:r>
          </a:p>
          <a:p>
            <a:pPr lvl="1" indent="0">
              <a:buNone/>
            </a:pPr>
            <a:r>
              <a:rPr lang="en-IN" dirty="0"/>
              <a:t>5. Lane Departure Freq.</a:t>
            </a:r>
          </a:p>
          <a:p>
            <a:pPr lvl="1" indent="0">
              <a:buNone/>
            </a:pPr>
            <a:r>
              <a:rPr lang="en-IN" dirty="0"/>
              <a:t>6. Lane Keeping Ratio</a:t>
            </a:r>
          </a:p>
          <a:p>
            <a:pPr lvl="1" indent="0">
              <a:buNone/>
            </a:pPr>
            <a:r>
              <a:rPr lang="en-IN" dirty="0"/>
              <a:t>7. Lane Changes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40F8B2-1200-BA9E-31F9-FA2AF46E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6BF43A-BF1D-7BD9-33F4-63ECB42E75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Publishing Format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1EB67-4CBE-91A7-9EE5-65609C26FD9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B191DF-0236-FB5D-EC43-440A4C620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460" y="2407770"/>
            <a:ext cx="7946547" cy="20424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4A0D0A-2177-53C1-44C7-11E19C3D5ACB}"/>
              </a:ext>
            </a:extLst>
          </p:cNvPr>
          <p:cNvSpPr txBox="1"/>
          <p:nvPr/>
        </p:nvSpPr>
        <p:spPr>
          <a:xfrm>
            <a:off x="5270400" y="4613637"/>
            <a:ext cx="512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3 :- Final Feature Vectors for Hamza_Kss_3 </a:t>
            </a:r>
          </a:p>
        </p:txBody>
      </p:sp>
    </p:spTree>
    <p:extLst>
      <p:ext uri="{BB962C8B-B14F-4D97-AF65-F5344CB8AC3E}">
        <p14:creationId xmlns:p14="http://schemas.microsoft.com/office/powerpoint/2010/main" val="407701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F267D1-B232-1317-F4CD-C00546FE28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3CF82-3208-892B-2D8F-6A1C0B9173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612159-DAD3-B7EE-FF80-DBE5463F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Driving </a:t>
            </a:r>
            <a:r>
              <a:rPr lang="en-IN" dirty="0" err="1"/>
              <a:t>Behavior</a:t>
            </a:r>
            <a:r>
              <a:rPr lang="en-IN" dirty="0"/>
              <a:t> Metrics vs. Sleepiness Levels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6DD667-7824-4ED3-C07E-37E2155E6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05D5D-59C5-7F38-5D25-48CB212FB7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DE4C180-C27E-1367-F53A-FAC4BB2B44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2" y="1144717"/>
            <a:ext cx="3482767" cy="2644171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06A2BD-B7BA-0284-ACD9-12C22831A6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215" y="1293792"/>
            <a:ext cx="3294767" cy="2495096"/>
          </a:xfrm>
          <a:prstGeom prst="rect">
            <a:avLst/>
          </a:prstGeom>
        </p:spPr>
      </p:pic>
      <p:pic>
        <p:nvPicPr>
          <p:cNvPr id="9" name="Picture 8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2F1B8ACF-C53F-A42A-2643-62A203A58B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2" y="4025468"/>
            <a:ext cx="3262809" cy="2483042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261AF06-FED2-B78E-9C0F-7E2C3F7F12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215" y="4025468"/>
            <a:ext cx="3294767" cy="250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5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5D84D4-03A3-4D79-6E90-A5104C5BF3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EE258-DC67-BF3D-8B4C-F143FDC03E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577C63-8196-712A-0AC3-345E723B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EDD1DE-7EBC-3A50-8EB0-617DA6EBE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DB9F-B2D8-3B21-0A24-9C533CB4330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734D81EC-8C31-054F-B717-4ACEB33BE349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  <p:pic>
        <p:nvPicPr>
          <p:cNvPr id="7" name="Picture 6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FCE66CF4-6F08-1DC5-8953-BAE219511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03" y="1087122"/>
            <a:ext cx="3583912" cy="2727779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80DF602-48B0-DD87-DC5C-A3871C8F00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382" y="3519164"/>
            <a:ext cx="3705155" cy="2752476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040AD41-3377-4EA2-DEA8-97091F2BFF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04" y="1097788"/>
            <a:ext cx="3583912" cy="272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15633"/>
      </p:ext>
    </p:extLst>
  </p:cSld>
  <p:clrMapOvr>
    <a:masterClrMapping/>
  </p:clrMapOvr>
</p:sld>
</file>

<file path=ppt/theme/theme1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M_16_9.potx" id="{727D72D2-2ACB-4D4D-9A44-F968391D04B0}" vid="{B46CBAD0-1C72-4D63-B6E5-A6E0EC663DE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4ZPPNAQV5EQV-6530471-140</_dlc_DocId>
    <_dlc_DocIdUrl xmlns="bfb11438-62cb-48e0-8e08-adb7b8077717">
      <Url>https://mythi.de/_layouts/15/DocIdRedir.aspx?ID=4ZPPNAQV5EQV-6530471-140</Url>
      <Description>4ZPPNAQV5EQV-6530471-140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b1666d69cc311cc1466d4f987507387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0e5e9971a397e5231bf4c82372384882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54685D9-8C2D-4015-AC2B-8687899593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45F102-D833-4F7E-9394-D9DFAA6FB136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bb6f2568-2a10-4a56-89e3-032448edb678"/>
    <ds:schemaRef ds:uri="http://schemas.microsoft.com/office/2006/metadata/properties"/>
    <ds:schemaRef ds:uri="http://schemas.openxmlformats.org/package/2006/metadata/core-properties"/>
    <ds:schemaRef ds:uri="3ea1445a-e6f2-4b21-90f1-4e4a5aca6572"/>
    <ds:schemaRef ds:uri="http://purl.org/dc/terms/"/>
    <ds:schemaRef ds:uri="bfb11438-62cb-48e0-8e08-adb7b807771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9B44FAC-DA19-4379-8150-C7B3CD3890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66C0162-13E1-431C-93DC-6A7E74A1646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THI Präsentation Template M_16_9</Template>
  <TotalTime>31</TotalTime>
  <Words>289</Words>
  <Application>Microsoft Macintosh PowerPoint</Application>
  <PresentationFormat>Widescreen</PresentationFormat>
  <Paragraphs>48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1_Bildschirm</vt:lpstr>
      <vt:lpstr>Feature Extraction - Vehicle Data(CARLA)</vt:lpstr>
      <vt:lpstr>PowerPoint Presentation</vt:lpstr>
      <vt:lpstr>Sliding Window Mechanism </vt:lpstr>
      <vt:lpstr>PowerPoint Presentation</vt:lpstr>
      <vt:lpstr>PowerPoint Presentation</vt:lpstr>
      <vt:lpstr>Driving Behavior Metrics vs. Sleepiness Levels</vt:lpstr>
      <vt:lpstr>PowerPoint Presentation</vt:lpstr>
    </vt:vector>
  </TitlesOfParts>
  <Company>Technische Hochschule Ingolstadt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Scheuerer Brigitta</dc:creator>
  <cp:lastModifiedBy>Sawant, Yashraj (Stud. E - AI)</cp:lastModifiedBy>
  <cp:revision>3</cp:revision>
  <cp:lastPrinted>2018-04-09T18:27:12Z</cp:lastPrinted>
  <dcterms:created xsi:type="dcterms:W3CDTF">2018-11-27T09:48:58Z</dcterms:created>
  <dcterms:modified xsi:type="dcterms:W3CDTF">2025-07-23T19:31:39Z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3f9091a3-8931-4ab1-9cbf-48bdeb60b2aa</vt:lpwstr>
  </property>
</Properties>
</file>